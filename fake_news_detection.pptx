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66" r:id="rId2"/>
    <p:sldId id="268" r:id="rId3"/>
    <p:sldId id="269" r:id="rId4"/>
    <p:sldId id="270" r:id="rId5"/>
    <p:sldId id="271" r:id="rId6"/>
    <p:sldId id="272" r:id="rId7"/>
    <p:sldId id="273" r:id="rId8"/>
    <p:sldId id="274" r:id="rId9"/>
    <p:sldId id="275" r:id="rId10"/>
    <p:sldId id="276" r:id="rId11"/>
    <p:sldId id="267" r:id="rId12"/>
  </p:sldIdLst>
  <p:sldSz cx="14630400" cy="8229600"/>
  <p:notesSz cx="8229600" cy="1463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8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5519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10160"/>
            <a:ext cx="14630400" cy="823976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808481" y="2885441"/>
            <a:ext cx="9320323" cy="1975562"/>
          </a:xfrm>
        </p:spPr>
        <p:txBody>
          <a:bodyPr anchor="b">
            <a:noAutofit/>
          </a:bodyPr>
          <a:lstStyle>
            <a:lvl1pPr algn="r">
              <a:defRPr sz="648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808481" y="4861000"/>
            <a:ext cx="9320323" cy="1316279"/>
          </a:xfrm>
        </p:spPr>
        <p:txBody>
          <a:bodyPr anchor="t"/>
          <a:lstStyle>
            <a:lvl1pPr marL="0" indent="0" algn="r">
              <a:buNone/>
              <a:defRPr>
                <a:solidFill>
                  <a:schemeClr val="tx1">
                    <a:lumMod val="50000"/>
                    <a:lumOff val="50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32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2" y="3241041"/>
            <a:ext cx="10316002" cy="2191897"/>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032480"/>
          </a:xfrm>
        </p:spPr>
        <p:txBody>
          <a:bodyPr anchor="t"/>
          <a:lstStyle>
            <a:lvl1pPr marL="0" indent="0" algn="l">
              <a:buNone/>
              <a:defRPr sz="240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592707"/>
            <a:ext cx="5020842" cy="4656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07964" y="2592707"/>
            <a:ext cx="5020841" cy="4656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t>9/23/2025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0894" y="2593180"/>
            <a:ext cx="5022748"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810894" y="3284695"/>
            <a:ext cx="5022748"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06059" y="2593180"/>
            <a:ext cx="5022742"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106062" y="3284695"/>
            <a:ext cx="5022740"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t>9/23/2025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1" y="731520"/>
            <a:ext cx="10316002" cy="158496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t>9/23/2025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t>9/23/2025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1" y="1798325"/>
            <a:ext cx="4625434" cy="1534159"/>
          </a:xfrm>
        </p:spPr>
        <p:txBody>
          <a:bodyPr anchor="b">
            <a:normAutofit/>
          </a:bodyPr>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712554" y="617910"/>
            <a:ext cx="5416249" cy="66317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801" y="3332483"/>
            <a:ext cx="4625434" cy="3101339"/>
          </a:xfrm>
        </p:spPr>
        <p:txBody>
          <a:bodyPr>
            <a:normAutofit/>
          </a:bodyPr>
          <a:lstStyle>
            <a:lvl1pPr marL="0" indent="0">
              <a:buNone/>
              <a:defRPr sz="1680"/>
            </a:lvl1pPr>
            <a:lvl2pPr marL="548640" indent="0">
              <a:buNone/>
              <a:defRPr sz="1680"/>
            </a:lvl2pPr>
            <a:lvl3pPr marL="1096645" indent="0">
              <a:buNone/>
              <a:defRPr sz="1440"/>
            </a:lvl3pPr>
            <a:lvl4pPr marL="1645285" indent="0">
              <a:buNone/>
              <a:defRPr sz="1200"/>
            </a:lvl4pPr>
            <a:lvl5pPr marL="2193925" indent="0">
              <a:buNone/>
              <a:defRPr sz="1200"/>
            </a:lvl5pPr>
            <a:lvl6pPr marL="2742565" indent="0">
              <a:buNone/>
              <a:defRPr sz="1200"/>
            </a:lvl6pPr>
            <a:lvl7pPr marL="3290570" indent="0">
              <a:buNone/>
              <a:defRPr sz="1200"/>
            </a:lvl7pPr>
            <a:lvl8pPr marL="3839210" indent="0">
              <a:buNone/>
              <a:defRPr sz="1200"/>
            </a:lvl8pPr>
            <a:lvl9pPr marL="438785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t>9/23/2025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5760720"/>
            <a:ext cx="10316000"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801" y="731520"/>
            <a:ext cx="10316002" cy="4614862"/>
          </a:xfrm>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812802" y="6440806"/>
            <a:ext cx="10316000" cy="808829"/>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t>9/23/2025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731520"/>
            <a:ext cx="10316002" cy="4084320"/>
          </a:xfrm>
        </p:spPr>
        <p:txBody>
          <a:bodyPr anchor="ctr">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639367" y="4358640"/>
            <a:ext cx="8669429" cy="457200"/>
          </a:xfrm>
        </p:spPr>
        <p:txBody>
          <a:bodyPr anchor="ctr">
            <a:noAutofit/>
          </a:bodyPr>
          <a:lstStyle>
            <a:lvl1pPr marL="0" indent="0">
              <a:buFontTx/>
              <a:buNone/>
              <a:defRPr sz="1920">
                <a:solidFill>
                  <a:schemeClr val="tx1">
                    <a:lumMod val="50000"/>
                    <a:lumOff val="50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
        <p:nvSpPr>
          <p:cNvPr id="20" name="TextBox 19"/>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panose="020B0604020202020204"/>
              </a:rPr>
              <a:t>“</a:t>
            </a:r>
          </a:p>
        </p:txBody>
      </p:sp>
      <p:sp>
        <p:nvSpPr>
          <p:cNvPr id="22" name="TextBox 21"/>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latin typeface="Arial" panose="020B0604020202020204"/>
              </a:rPr>
              <a:t>”</a:t>
            </a:r>
            <a:endParaRPr lang="en-US" sz="2160" dirty="0">
              <a:solidFill>
                <a:schemeClr val="accent1">
                  <a:lumMod val="60000"/>
                  <a:lumOff val="40000"/>
                </a:schemeClr>
              </a:solidFill>
              <a:latin typeface="Arial" panose="020B0604020202020204"/>
            </a:endParaRPr>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802" y="2318386"/>
            <a:ext cx="10316002" cy="3114552"/>
          </a:xfrm>
        </p:spPr>
        <p:txBody>
          <a:bodyPr anchor="b">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tx1">
                    <a:lumMod val="75000"/>
                    <a:lumOff val="25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
        <p:nvSpPr>
          <p:cNvPr id="24" name="TextBox 23"/>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2959" y="731520"/>
            <a:ext cx="10305844"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accent1"/>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61208" y="731520"/>
            <a:ext cx="1565692" cy="630174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802" y="731520"/>
            <a:ext cx="8472180" cy="63017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10160"/>
            <a:ext cx="14630400" cy="823976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1" y="731520"/>
            <a:ext cx="10316002" cy="158496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12801" y="2592707"/>
            <a:ext cx="10316002" cy="46569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46160" y="7249635"/>
            <a:ext cx="1094327" cy="438150"/>
          </a:xfrm>
          <a:prstGeom prst="rect">
            <a:avLst/>
          </a:prstGeom>
        </p:spPr>
        <p:txBody>
          <a:bodyPr vert="horz" lIns="91440" tIns="45720" rIns="91440" bIns="45720" rtlCol="0" anchor="ctr"/>
          <a:lstStyle>
            <a:lvl1pPr algn="r">
              <a:defRPr sz="1080">
                <a:solidFill>
                  <a:schemeClr val="tx1">
                    <a:tint val="75000"/>
                  </a:schemeClr>
                </a:solidFill>
              </a:defRPr>
            </a:lvl1pPr>
          </a:lstStyle>
          <a:p>
            <a:fld id="{B61BEF0D-F0BB-DE4B-95CE-6DB70DBA9567}" type="datetimeFigureOut">
              <a:rPr lang="en-US" smtClean="0"/>
              <a:t>9/23/2025</a:t>
            </a:fld>
            <a:endParaRPr lang="en-US" dirty="0"/>
          </a:p>
        </p:txBody>
      </p:sp>
      <p:sp>
        <p:nvSpPr>
          <p:cNvPr id="5" name="Footer Placeholder 4"/>
          <p:cNvSpPr>
            <a:spLocks noGrp="1"/>
          </p:cNvSpPr>
          <p:nvPr>
            <p:ph type="ftr" sz="quarter" idx="3"/>
          </p:nvPr>
        </p:nvSpPr>
        <p:spPr>
          <a:xfrm>
            <a:off x="812801" y="7249635"/>
            <a:ext cx="7557134" cy="438150"/>
          </a:xfrm>
          <a:prstGeom prst="rect">
            <a:avLst/>
          </a:prstGeom>
        </p:spPr>
        <p:txBody>
          <a:bodyPr vert="horz" lIns="91440" tIns="45720" rIns="91440" bIns="45720" rtlCol="0" anchor="ctr"/>
          <a:lstStyle>
            <a:lvl1pPr algn="l">
              <a:defRPr sz="108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08796" y="7249635"/>
            <a:ext cx="820007" cy="438150"/>
          </a:xfrm>
          <a:prstGeom prst="rect">
            <a:avLst/>
          </a:prstGeom>
        </p:spPr>
        <p:txBody>
          <a:bodyPr vert="horz" lIns="91440" tIns="45720" rIns="91440" bIns="45720" rtlCol="0" anchor="ctr"/>
          <a:lstStyle>
            <a:lvl1pPr algn="r">
              <a:defRPr sz="1080">
                <a:solidFill>
                  <a:schemeClr val="accent1"/>
                </a:solidFill>
              </a:defRPr>
            </a:lvl1pPr>
          </a:lstStyle>
          <a:p>
            <a:fld id="{D57F1E4F-1CFF-5643-939E-217C01CD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l" defTabSz="548640" rtl="0" eaLnBrk="1" latinLnBrk="0" hangingPunct="1">
        <a:spcBef>
          <a:spcPct val="0"/>
        </a:spcBef>
        <a:buNone/>
        <a:defRPr sz="432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accent1"/>
        </a:buClr>
        <a:buSzPct val="80000"/>
        <a:buFont typeface="Wingdings 3" panose="05040102010807070707" charset="2"/>
        <a:buChar char=""/>
        <a:defRPr sz="2160" kern="1200">
          <a:solidFill>
            <a:schemeClr val="tx1">
              <a:lumMod val="75000"/>
              <a:lumOff val="25000"/>
            </a:schemeClr>
          </a:solidFill>
          <a:latin typeface="+mn-lt"/>
          <a:ea typeface="+mn-ea"/>
          <a:cs typeface="+mn-cs"/>
        </a:defRPr>
      </a:lvl1pPr>
      <a:lvl2pPr marL="891540" indent="-342900" algn="l" defTabSz="548640" rtl="0" eaLnBrk="1" latinLnBrk="0" hangingPunct="1">
        <a:spcBef>
          <a:spcPts val="1200"/>
        </a:spcBef>
        <a:spcAft>
          <a:spcPts val="0"/>
        </a:spcAft>
        <a:buClr>
          <a:schemeClr val="accent1"/>
        </a:buClr>
        <a:buSzPct val="80000"/>
        <a:buFont typeface="Wingdings 3" panose="05040102010807070707" charset="2"/>
        <a:buChar char=""/>
        <a:defRPr sz="1920" kern="1200">
          <a:solidFill>
            <a:schemeClr val="tx1">
              <a:lumMod val="75000"/>
              <a:lumOff val="25000"/>
            </a:schemeClr>
          </a:solidFill>
          <a:latin typeface="+mn-lt"/>
          <a:ea typeface="+mn-ea"/>
          <a:cs typeface="+mn-cs"/>
        </a:defRPr>
      </a:lvl2pPr>
      <a:lvl3pPr marL="1371600" indent="-274320" algn="l" defTabSz="548640" rtl="0" eaLnBrk="1" latinLnBrk="0" hangingPunct="1">
        <a:spcBef>
          <a:spcPts val="1200"/>
        </a:spcBef>
        <a:spcAft>
          <a:spcPts val="0"/>
        </a:spcAft>
        <a:buClr>
          <a:schemeClr val="accent1"/>
        </a:buClr>
        <a:buSzPct val="80000"/>
        <a:buFont typeface="Wingdings 3" panose="05040102010807070707" charset="2"/>
        <a:buChar char=""/>
        <a:defRPr sz="1680" kern="1200">
          <a:solidFill>
            <a:schemeClr val="tx1">
              <a:lumMod val="75000"/>
              <a:lumOff val="25000"/>
            </a:schemeClr>
          </a:solidFill>
          <a:latin typeface="+mn-lt"/>
          <a:ea typeface="+mn-ea"/>
          <a:cs typeface="+mn-cs"/>
        </a:defRPr>
      </a:lvl3pPr>
      <a:lvl4pPr marL="1920240" indent="-274320" algn="l" defTabSz="548640" rtl="0" eaLnBrk="1" latinLnBrk="0" hangingPunct="1">
        <a:spcBef>
          <a:spcPts val="1200"/>
        </a:spcBef>
        <a:spcAft>
          <a:spcPts val="0"/>
        </a:spcAft>
        <a:buClr>
          <a:schemeClr val="accent1"/>
        </a:buClr>
        <a:buSzPct val="80000"/>
        <a:buFont typeface="Wingdings 3" panose="05040102010807070707" charset="2"/>
        <a:buChar char=""/>
        <a:defRPr sz="1440" kern="1200">
          <a:solidFill>
            <a:schemeClr val="tx1">
              <a:lumMod val="75000"/>
              <a:lumOff val="25000"/>
            </a:schemeClr>
          </a:solidFill>
          <a:latin typeface="+mn-lt"/>
          <a:ea typeface="+mn-ea"/>
          <a:cs typeface="+mn-cs"/>
        </a:defRPr>
      </a:lvl4pPr>
      <a:lvl5pPr marL="2468880" indent="-274320" algn="l" defTabSz="548640" rtl="0" eaLnBrk="1" latinLnBrk="0" hangingPunct="1">
        <a:spcBef>
          <a:spcPts val="1200"/>
        </a:spcBef>
        <a:spcAft>
          <a:spcPts val="0"/>
        </a:spcAft>
        <a:buClr>
          <a:schemeClr val="accent1"/>
        </a:buClr>
        <a:buSzPct val="80000"/>
        <a:buFont typeface="Wingdings 3" panose="05040102010807070707" charset="2"/>
        <a:buChar char=""/>
        <a:defRPr sz="1440" kern="1200">
          <a:solidFill>
            <a:schemeClr val="tx1">
              <a:lumMod val="75000"/>
              <a:lumOff val="25000"/>
            </a:schemeClr>
          </a:solidFill>
          <a:latin typeface="+mn-lt"/>
          <a:ea typeface="+mn-ea"/>
          <a:cs typeface="+mn-cs"/>
        </a:defRPr>
      </a:lvl5pPr>
      <a:lvl6pPr marL="3017520" indent="-274320" algn="l" defTabSz="548640" rtl="0" eaLnBrk="1" latinLnBrk="0" hangingPunct="1">
        <a:spcBef>
          <a:spcPts val="1200"/>
        </a:spcBef>
        <a:spcAft>
          <a:spcPts val="0"/>
        </a:spcAft>
        <a:buClr>
          <a:schemeClr val="accent1"/>
        </a:buClr>
        <a:buSzPct val="80000"/>
        <a:buFont typeface="Wingdings 3" panose="05040102010807070707" charset="2"/>
        <a:buChar char=""/>
        <a:defRPr sz="1440" kern="1200">
          <a:solidFill>
            <a:schemeClr val="tx1">
              <a:lumMod val="75000"/>
              <a:lumOff val="25000"/>
            </a:schemeClr>
          </a:solidFill>
          <a:latin typeface="+mn-lt"/>
          <a:ea typeface="+mn-ea"/>
          <a:cs typeface="+mn-cs"/>
        </a:defRPr>
      </a:lvl6pPr>
      <a:lvl7pPr marL="3566160" indent="-274320" algn="l" defTabSz="548640" rtl="0" eaLnBrk="1" latinLnBrk="0" hangingPunct="1">
        <a:spcBef>
          <a:spcPts val="1200"/>
        </a:spcBef>
        <a:spcAft>
          <a:spcPts val="0"/>
        </a:spcAft>
        <a:buClr>
          <a:schemeClr val="accent1"/>
        </a:buClr>
        <a:buSzPct val="80000"/>
        <a:buFont typeface="Wingdings 3" panose="05040102010807070707" charset="2"/>
        <a:buChar char=""/>
        <a:defRPr sz="1440" kern="1200">
          <a:solidFill>
            <a:schemeClr val="tx1">
              <a:lumMod val="75000"/>
              <a:lumOff val="25000"/>
            </a:schemeClr>
          </a:solidFill>
          <a:latin typeface="+mn-lt"/>
          <a:ea typeface="+mn-ea"/>
          <a:cs typeface="+mn-cs"/>
        </a:defRPr>
      </a:lvl7pPr>
      <a:lvl8pPr marL="4114800" indent="-274320" algn="l" defTabSz="548640" rtl="0" eaLnBrk="1" latinLnBrk="0" hangingPunct="1">
        <a:spcBef>
          <a:spcPts val="1200"/>
        </a:spcBef>
        <a:spcAft>
          <a:spcPts val="0"/>
        </a:spcAft>
        <a:buClr>
          <a:schemeClr val="accent1"/>
        </a:buClr>
        <a:buSzPct val="80000"/>
        <a:buFont typeface="Wingdings 3" panose="05040102010807070707" charset="2"/>
        <a:buChar char=""/>
        <a:defRPr sz="1440" kern="1200">
          <a:solidFill>
            <a:schemeClr val="tx1">
              <a:lumMod val="75000"/>
              <a:lumOff val="25000"/>
            </a:schemeClr>
          </a:solidFill>
          <a:latin typeface="+mn-lt"/>
          <a:ea typeface="+mn-ea"/>
          <a:cs typeface="+mn-cs"/>
        </a:defRPr>
      </a:lvl8pPr>
      <a:lvl9pPr marL="4663440" indent="-274320" algn="l" defTabSz="548640" rtl="0" eaLnBrk="1" latinLnBrk="0" hangingPunct="1">
        <a:spcBef>
          <a:spcPts val="1200"/>
        </a:spcBef>
        <a:spcAft>
          <a:spcPts val="0"/>
        </a:spcAft>
        <a:buClr>
          <a:schemeClr val="accent1"/>
        </a:buClr>
        <a:buSzPct val="80000"/>
        <a:buFont typeface="Wingdings 3" panose="05040102010807070707" charset="2"/>
        <a:buChar char=""/>
        <a:defRPr sz="1440" kern="1200">
          <a:solidFill>
            <a:schemeClr val="tx1">
              <a:lumMod val="75000"/>
              <a:lumOff val="25000"/>
            </a:schemeClr>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IN" b="1" dirty="0">
                <a:latin typeface="+mn-lt"/>
              </a:rPr>
              <a:t> </a:t>
            </a:r>
            <a:r>
              <a:rPr lang="en-IN" sz="1800" b="1" dirty="0">
                <a:latin typeface="+mn-lt"/>
              </a:rPr>
              <a:t>DEPARTMENT OF COMPUTER ENGINEERING</a:t>
            </a:r>
            <a:r>
              <a:rPr lang="en-US" sz="1800" dirty="0">
                <a:latin typeface="+mn-lt"/>
              </a:rPr>
              <a:t>     </a:t>
            </a:r>
            <a:r>
              <a:rPr lang="en-US" sz="2000" dirty="0">
                <a:latin typeface="+mn-lt"/>
              </a:rPr>
              <a:t/>
            </a:r>
            <a:br>
              <a:rPr lang="en-US" sz="2000" dirty="0">
                <a:latin typeface="+mn-lt"/>
              </a:rPr>
            </a:br>
            <a:r>
              <a:rPr lang="en-US" sz="2000" b="1" dirty="0">
                <a:latin typeface="+mn-lt"/>
              </a:rPr>
              <a:t>G.V. ACHARYA INSTITUTE OF ENGINEERING AND TECHNOLOGY</a:t>
            </a:r>
            <a:br>
              <a:rPr lang="en-US" sz="2000" b="1" dirty="0">
                <a:latin typeface="+mn-lt"/>
              </a:rPr>
            </a:br>
            <a:r>
              <a:rPr lang="en-IN" sz="1800" b="1" dirty="0">
                <a:latin typeface="+mn-lt"/>
              </a:rPr>
              <a:t> UNIVERSITY OF MUMBAI</a:t>
            </a:r>
            <a:r>
              <a:rPr lang="en-US" sz="1800" dirty="0">
                <a:latin typeface="+mn-lt"/>
              </a:rPr>
              <a:t/>
            </a:r>
            <a:br>
              <a:rPr lang="en-US" sz="1800" dirty="0">
                <a:latin typeface="+mn-lt"/>
              </a:rPr>
            </a:br>
            <a:r>
              <a:rPr lang="en-US" sz="1800" dirty="0">
                <a:latin typeface="+mn-lt"/>
              </a:rPr>
              <a:t>       </a:t>
            </a:r>
            <a:r>
              <a:rPr lang="en-IN" sz="1800" b="1" dirty="0">
                <a:latin typeface="+mn-lt"/>
              </a:rPr>
              <a:t> A.Y. 2025– 2026</a:t>
            </a:r>
            <a:endParaRPr lang="en-IN" sz="1800" dirty="0">
              <a:latin typeface="+mn-lt"/>
            </a:endParaRPr>
          </a:p>
        </p:txBody>
      </p:sp>
      <p:sp>
        <p:nvSpPr>
          <p:cNvPr id="3" name="Content Placeholder 2"/>
          <p:cNvSpPr>
            <a:spLocks noGrp="1"/>
          </p:cNvSpPr>
          <p:nvPr>
            <p:ph idx="1"/>
          </p:nvPr>
        </p:nvSpPr>
        <p:spPr>
          <a:xfrm>
            <a:off x="1577009" y="2291080"/>
            <a:ext cx="10682936" cy="5121275"/>
          </a:xfrm>
        </p:spPr>
        <p:txBody>
          <a:bodyPr>
            <a:normAutofit/>
          </a:bodyPr>
          <a:lstStyle/>
          <a:p>
            <a:pPr marL="0" indent="0" algn="ctr">
              <a:buNone/>
            </a:pPr>
            <a:r>
              <a:rPr lang="en-US" sz="3600" b="1" dirty="0">
                <a:solidFill>
                  <a:srgbClr val="000000"/>
                </a:solidFill>
                <a:latin typeface="Inter Bold" pitchFamily="34" charset="0"/>
                <a:ea typeface="Inter Bold" pitchFamily="34" charset="-122"/>
                <a:cs typeface="Inter Bold" pitchFamily="34" charset="-120"/>
              </a:rPr>
              <a:t>Fake News Detection With Uploaded tracking and Verification </a:t>
            </a:r>
            <a:r>
              <a:rPr lang="en-US" sz="3600" b="1" dirty="0" smtClean="0">
                <a:solidFill>
                  <a:srgbClr val="000000"/>
                </a:solidFill>
                <a:latin typeface="Inter Bold" pitchFamily="34" charset="0"/>
                <a:ea typeface="Inter Bold" pitchFamily="34" charset="-122"/>
                <a:cs typeface="Inter Bold" pitchFamily="34" charset="-120"/>
              </a:rPr>
              <a:t>Mechanism </a:t>
            </a:r>
            <a:endParaRPr lang="en-US" sz="3600" b="1" dirty="0">
              <a:solidFill>
                <a:srgbClr val="000000"/>
              </a:solidFill>
              <a:latin typeface="Inter Bold" pitchFamily="34" charset="0"/>
              <a:ea typeface="Inter Bold" pitchFamily="34" charset="-122"/>
            </a:endParaRPr>
          </a:p>
          <a:p>
            <a:pPr marL="0" indent="0">
              <a:buNone/>
            </a:pPr>
            <a:endParaRPr lang="en-US" dirty="0" smtClean="0"/>
          </a:p>
          <a:p>
            <a:pPr marL="0" indent="0">
              <a:buNone/>
            </a:pPr>
            <a:r>
              <a:rPr lang="en-US" dirty="0" smtClean="0"/>
              <a:t>Group Members</a:t>
            </a:r>
            <a:endParaRPr lang="en-US" dirty="0" smtClean="0"/>
          </a:p>
          <a:p>
            <a:pPr marL="0" indent="0">
              <a:buNone/>
            </a:pPr>
            <a:r>
              <a:rPr lang="en-US" dirty="0" smtClean="0"/>
              <a:t>1</a:t>
            </a:r>
            <a:r>
              <a:rPr lang="en-US" dirty="0"/>
              <a:t>) Harsha Ravindra Kadam</a:t>
            </a:r>
          </a:p>
          <a:p>
            <a:pPr marL="0" indent="0">
              <a:buNone/>
            </a:pPr>
            <a:r>
              <a:rPr lang="en-US" dirty="0"/>
              <a:t>2) Amruta Nana Kamble</a:t>
            </a:r>
          </a:p>
          <a:p>
            <a:pPr marL="0" indent="0">
              <a:buNone/>
            </a:pPr>
            <a:r>
              <a:rPr lang="en-US" dirty="0"/>
              <a:t>3) Yogita Bhau Godambe</a:t>
            </a:r>
          </a:p>
          <a:p>
            <a:pPr marL="0" indent="0">
              <a:buNone/>
            </a:pPr>
            <a:r>
              <a:rPr lang="en-US" dirty="0"/>
              <a:t>4) Ketki Dilip Rasal</a:t>
            </a:r>
            <a:endParaRPr lang="en-IN" dirty="0"/>
          </a:p>
        </p:txBody>
      </p:sp>
      <p:pic>
        <p:nvPicPr>
          <p:cNvPr id="4" name="Image 1"/>
          <p:cNvPicPr/>
          <p:nvPr/>
        </p:nvPicPr>
        <p:blipFill>
          <a:blip r:embed="rId2" cstate="print">
            <a:extLst>
              <a:ext uri="{28A0092B-C50C-407E-A947-70E740481C1C}">
                <a14:useLocalDpi xmlns:a14="http://schemas.microsoft.com/office/drawing/2010/main" val="0"/>
              </a:ext>
            </a:extLst>
          </a:blip>
          <a:stretch>
            <a:fillRect/>
          </a:stretch>
        </p:blipFill>
        <p:spPr>
          <a:xfrm>
            <a:off x="1282719" y="670561"/>
            <a:ext cx="1324004" cy="1212830"/>
          </a:xfrm>
          <a:prstGeom prst="rect">
            <a:avLst/>
          </a:prstGeom>
        </p:spPr>
      </p:pic>
      <p:pic>
        <p:nvPicPr>
          <p:cNvPr id="5" name="Image 2"/>
          <p:cNvPicPr/>
          <p:nvPr/>
        </p:nvPicPr>
        <p:blipFill>
          <a:blip r:embed="rId3" cstate="print">
            <a:extLst>
              <a:ext uri="{28A0092B-C50C-407E-A947-70E740481C1C}">
                <a14:useLocalDpi xmlns:a14="http://schemas.microsoft.com/office/drawing/2010/main" val="0"/>
              </a:ext>
            </a:extLst>
          </a:blip>
          <a:stretch>
            <a:fillRect/>
          </a:stretch>
        </p:blipFill>
        <p:spPr>
          <a:xfrm>
            <a:off x="10163516" y="731382"/>
            <a:ext cx="1182109" cy="9980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INTRODUCTION</a:t>
            </a:r>
            <a:endParaRPr lang="en-IN" b="1" dirty="0"/>
          </a:p>
        </p:txBody>
      </p:sp>
      <p:sp>
        <p:nvSpPr>
          <p:cNvPr id="3" name="Content Placeholder 2"/>
          <p:cNvSpPr>
            <a:spLocks noGrp="1"/>
          </p:cNvSpPr>
          <p:nvPr>
            <p:ph idx="1"/>
          </p:nvPr>
        </p:nvSpPr>
        <p:spPr>
          <a:xfrm>
            <a:off x="1011584" y="1983107"/>
            <a:ext cx="10316002" cy="4656928"/>
          </a:xfrm>
        </p:spPr>
        <p:txBody>
          <a:bodyPr>
            <a:normAutofit lnSpcReduction="10000"/>
          </a:bodyPr>
          <a:lstStyle/>
          <a:p>
            <a:pPr marL="0" indent="0">
              <a:buNone/>
            </a:pPr>
            <a:r>
              <a:rPr lang="en-IN" sz="1800" dirty="0">
                <a:ea typeface="Calibri" panose="020F0502020204030204" pitchFamily="34" charset="0"/>
                <a:cs typeface="Calibri" panose="020F0502020204030204" pitchFamily="34" charset="0"/>
              </a:rPr>
              <a:t>In today’s fast-paced digital world, information spreads faster than ever before. While this enables quick access to news and updates, it also makes it alarmingly easy for fake news and misinformation to circulate widely, often causing confusion, panic, or manipulation of public opinion. The growing influence of social media and online platforms has amplified the need for robust systems that can verify the authenticity of shared content.</a:t>
            </a:r>
          </a:p>
          <a:p>
            <a:pPr marL="0" indent="0">
              <a:buNone/>
            </a:pPr>
            <a:r>
              <a:rPr lang="en-IN" sz="1800" dirty="0">
                <a:ea typeface="Calibri" panose="020F0502020204030204" pitchFamily="34" charset="0"/>
                <a:cs typeface="Calibri" panose="020F0502020204030204" pitchFamily="34" charset="0"/>
              </a:rPr>
              <a:t>The aim of this project is to develop an intelligent system that performs fake news detection, tracks the source IP address of the person spreading the information, and verifies barcodes and certificates associated with documents and news items. This multi-functional approach ensures content is not only verified but also traceable to its point of origin.</a:t>
            </a:r>
          </a:p>
          <a:p>
            <a:pPr marL="0" indent="0">
              <a:buNone/>
            </a:pPr>
            <a:r>
              <a:rPr lang="en-IN" sz="1800" dirty="0">
                <a:ea typeface="Calibri" panose="020F0502020204030204" pitchFamily="34" charset="0"/>
                <a:cs typeface="Calibri" panose="020F0502020204030204" pitchFamily="34" charset="0"/>
              </a:rPr>
              <a:t>The system uses Natural Language Processing (NLP) and Machine Learning (ML) algorithms to </a:t>
            </a:r>
            <a:r>
              <a:rPr lang="en-IN" sz="1800" dirty="0" err="1">
                <a:ea typeface="Calibri" panose="020F0502020204030204" pitchFamily="34" charset="0"/>
                <a:cs typeface="Calibri" panose="020F0502020204030204" pitchFamily="34" charset="0"/>
              </a:rPr>
              <a:t>analyze</a:t>
            </a:r>
            <a:r>
              <a:rPr lang="en-IN" sz="1800" dirty="0">
                <a:ea typeface="Calibri" panose="020F0502020204030204" pitchFamily="34" charset="0"/>
                <a:cs typeface="Calibri" panose="020F0502020204030204" pitchFamily="34" charset="0"/>
              </a:rPr>
              <a:t> and classify news as real or fake. Simultaneously, an IP tracking module logs the location and network details of users responsible for disseminating questionable information.</a:t>
            </a:r>
          </a:p>
          <a:p>
            <a:pPr marL="0" indent="0">
              <a:buNone/>
            </a:pPr>
            <a:r>
              <a:rPr lang="en-IN" sz="1800" dirty="0">
                <a:ea typeface="Calibri" panose="020F0502020204030204" pitchFamily="34" charset="0"/>
                <a:cs typeface="Calibri" panose="020F0502020204030204" pitchFamily="34" charset="0"/>
              </a:rPr>
              <a:t> To enhance document authentication, the project integrates barcode verification, scanning codes embedded in official content to confirm legitimacy. Moreover, Google Lens and OCR technology are used to </a:t>
            </a:r>
            <a:r>
              <a:rPr lang="en-IN" sz="1800" dirty="0" err="1">
                <a:ea typeface="Calibri" panose="020F0502020204030204" pitchFamily="34" charset="0"/>
                <a:cs typeface="Calibri" panose="020F0502020204030204" pitchFamily="34" charset="0"/>
              </a:rPr>
              <a:t>analyze</a:t>
            </a:r>
            <a:r>
              <a:rPr lang="en-IN" sz="1800" dirty="0">
                <a:ea typeface="Calibri" panose="020F0502020204030204" pitchFamily="34" charset="0"/>
                <a:cs typeface="Calibri" panose="020F0502020204030204" pitchFamily="34" charset="0"/>
              </a:rPr>
              <a:t> physical documents or certificates, extracting and cross-verifying their content against trusted databases</a:t>
            </a:r>
            <a:r>
              <a:rPr lang="en-IN" sz="1800" dirty="0">
                <a:cs typeface="Times New Roman" panose="02020603050405020304" pitchFamily="18" charset="0"/>
              </a:rPr>
              <a:t>.</a:t>
            </a:r>
          </a:p>
          <a:p>
            <a:pPr marL="0" indent="0">
              <a:buNone/>
            </a:pPr>
            <a:endParaRPr lang="en-IN" sz="1800" dirty="0">
              <a:cs typeface="Times New Roman" panose="02020603050405020304" pitchFamily="18" charset="0"/>
            </a:endParaRPr>
          </a:p>
          <a:p>
            <a:pPr marL="0" indent="0">
              <a:buNone/>
            </a:pPr>
            <a:endParaRPr lang="en-IN" sz="1800"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     Objective </a:t>
            </a:r>
            <a:r>
              <a:rPr lang="en-IN" dirty="0"/>
              <a:t/>
            </a:r>
            <a:br>
              <a:rPr lang="en-IN" dirty="0"/>
            </a:br>
            <a:endParaRPr lang="en-IN" dirty="0"/>
          </a:p>
        </p:txBody>
      </p:sp>
      <p:sp>
        <p:nvSpPr>
          <p:cNvPr id="3" name="Content Placeholder 2"/>
          <p:cNvSpPr>
            <a:spLocks noGrp="1"/>
          </p:cNvSpPr>
          <p:nvPr>
            <p:ph idx="1"/>
          </p:nvPr>
        </p:nvSpPr>
        <p:spPr>
          <a:xfrm>
            <a:off x="1528419" y="1863837"/>
            <a:ext cx="10316002" cy="4656928"/>
          </a:xfrm>
        </p:spPr>
        <p:txBody>
          <a:bodyPr>
            <a:normAutofit fontScale="77500" lnSpcReduction="20000"/>
          </a:bodyPr>
          <a:lstStyle/>
          <a:p>
            <a:pPr marL="0" indent="0">
              <a:buNone/>
            </a:pPr>
            <a:r>
              <a:rPr lang="en-IN" dirty="0"/>
              <a:t>1.To develop an intelligent system capable of detecting fake news using advanced NLP and machine learning algorithms.  </a:t>
            </a:r>
          </a:p>
          <a:p>
            <a:pPr marL="0" indent="0">
              <a:buNone/>
            </a:pPr>
            <a:r>
              <a:rPr lang="en-IN" dirty="0"/>
              <a:t>2. To identify and </a:t>
            </a:r>
            <a:r>
              <a:rPr lang="en-IN" dirty="0" err="1"/>
              <a:t>analyze</a:t>
            </a:r>
            <a:r>
              <a:rPr lang="en-IN" dirty="0"/>
              <a:t> textual news content for credibility and classify it as real or fake.</a:t>
            </a:r>
          </a:p>
          <a:p>
            <a:pPr marL="0" indent="0">
              <a:buNone/>
            </a:pPr>
            <a:r>
              <a:rPr lang="en-IN" dirty="0"/>
              <a:t>3. To implement a source tracking mechanism that captures and logs the IP address of users who post or share fake news.</a:t>
            </a:r>
          </a:p>
          <a:p>
            <a:pPr marL="0" indent="0">
              <a:buNone/>
            </a:pPr>
            <a:r>
              <a:rPr lang="en-IN" dirty="0"/>
              <a:t>4. To create a database for tracking news distribution patterns and identifying original sources.</a:t>
            </a:r>
          </a:p>
          <a:p>
            <a:pPr marL="0" indent="0">
              <a:buNone/>
            </a:pPr>
            <a:r>
              <a:rPr lang="en-IN" dirty="0"/>
              <a:t>5. To integrate a barcode/QR code verification module for validating news articles, certificates, and other official documents.</a:t>
            </a:r>
          </a:p>
          <a:p>
            <a:pPr marL="0" indent="0">
              <a:buNone/>
            </a:pPr>
            <a:r>
              <a:rPr lang="en-IN" dirty="0"/>
              <a:t>6. To utilize Google Lens or OCR technology for scanning certificates and extracting data from images.</a:t>
            </a:r>
          </a:p>
          <a:p>
            <a:pPr marL="0" indent="0">
              <a:buNone/>
            </a:pPr>
            <a:r>
              <a:rPr lang="en-IN" dirty="0"/>
              <a:t>7. To cross-verify certificate and document data with official or institutional databases for authenticity.</a:t>
            </a:r>
          </a:p>
          <a:p>
            <a:pPr marL="0" indent="0">
              <a:buNone/>
            </a:pPr>
            <a:r>
              <a:rPr lang="en-IN" dirty="0"/>
              <a:t>8. To reduce the spread of misinformation by enabling real-time verification.</a:t>
            </a:r>
          </a:p>
          <a:p>
            <a:pPr marL="0" indent="0">
              <a:buNone/>
            </a:pPr>
            <a:r>
              <a:rPr lang="en-IN" dirty="0"/>
              <a:t>9. To enhance public trust in digital news platforms and social media.</a:t>
            </a:r>
          </a:p>
          <a:p>
            <a:pPr marL="0" indent="0">
              <a:buNone/>
            </a:pPr>
            <a:r>
              <a:rPr lang="en-IN" dirty="0"/>
              <a:t>10. To ensure accountability through IP-based tracing of misinformation sources</a:t>
            </a: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      problem statement</a:t>
            </a:r>
            <a:r>
              <a:rPr lang="en-IN" dirty="0"/>
              <a:t/>
            </a:r>
            <a:br>
              <a:rPr lang="en-IN" dirty="0"/>
            </a:br>
            <a:endParaRPr lang="en-IN" dirty="0"/>
          </a:p>
        </p:txBody>
      </p:sp>
      <p:sp>
        <p:nvSpPr>
          <p:cNvPr id="3" name="Content Placeholder 2"/>
          <p:cNvSpPr>
            <a:spLocks noGrp="1"/>
          </p:cNvSpPr>
          <p:nvPr>
            <p:ph idx="1"/>
          </p:nvPr>
        </p:nvSpPr>
        <p:spPr>
          <a:xfrm>
            <a:off x="1939236" y="1850586"/>
            <a:ext cx="10316002" cy="4656928"/>
          </a:xfrm>
        </p:spPr>
        <p:txBody>
          <a:bodyPr/>
          <a:lstStyle/>
          <a:p>
            <a:pPr lvl="0"/>
            <a:r>
              <a:rPr lang="en-IN" dirty="0"/>
              <a:t>Detect fake news using machine learning,</a:t>
            </a:r>
          </a:p>
          <a:p>
            <a:pPr lvl="0"/>
            <a:r>
              <a:rPr lang="en-IN" dirty="0"/>
              <a:t>Track the IP address of the originator,</a:t>
            </a:r>
          </a:p>
          <a:p>
            <a:pPr lvl="0"/>
            <a:r>
              <a:rPr lang="en-IN" dirty="0"/>
              <a:t>Verify barcodes and certificates,</a:t>
            </a:r>
          </a:p>
          <a:p>
            <a:pPr lvl="0"/>
            <a:r>
              <a:rPr lang="en-IN" dirty="0" err="1"/>
              <a:t>Analyze</a:t>
            </a:r>
            <a:r>
              <a:rPr lang="en-IN" dirty="0"/>
              <a:t> documents using OCR and Google Lens,</a:t>
            </a:r>
          </a:p>
          <a:p>
            <a:pPr marL="0" indent="0">
              <a:buNone/>
            </a:pPr>
            <a:endParaRPr lang="en-IN" dirty="0"/>
          </a:p>
          <a:p>
            <a:pPr marL="0" indent="0">
              <a:buNone/>
            </a:pP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840" y="657922"/>
            <a:ext cx="12618720" cy="602166"/>
          </a:xfrm>
        </p:spPr>
        <p:txBody>
          <a:bodyPr>
            <a:normAutofit fontScale="90000"/>
          </a:bodyPr>
          <a:lstStyle/>
          <a:p>
            <a:r>
              <a:rPr lang="en-IN" b="1" dirty="0"/>
              <a:t>  Methodology: </a:t>
            </a:r>
            <a:r>
              <a:rPr lang="en-IN" dirty="0"/>
              <a:t/>
            </a:r>
            <a:br>
              <a:rPr lang="en-IN" dirty="0"/>
            </a:br>
            <a:endParaRPr lang="en-IN" dirty="0"/>
          </a:p>
        </p:txBody>
      </p:sp>
      <p:sp>
        <p:nvSpPr>
          <p:cNvPr id="3" name="Content Placeholder 2"/>
          <p:cNvSpPr>
            <a:spLocks noGrp="1"/>
          </p:cNvSpPr>
          <p:nvPr>
            <p:ph idx="1"/>
          </p:nvPr>
        </p:nvSpPr>
        <p:spPr>
          <a:xfrm>
            <a:off x="1311803" y="1482143"/>
            <a:ext cx="12498287" cy="5572405"/>
          </a:xfrm>
        </p:spPr>
        <p:txBody>
          <a:bodyPr>
            <a:normAutofit fontScale="40000" lnSpcReduction="20000"/>
          </a:bodyPr>
          <a:lstStyle/>
          <a:p>
            <a:pPr marL="0" indent="0">
              <a:buNone/>
            </a:pPr>
            <a:r>
              <a:rPr lang="en-IN" sz="3600" b="1" dirty="0"/>
              <a:t>1.Input Collection</a:t>
            </a:r>
            <a:r>
              <a:rPr lang="en-IN" sz="3600" dirty="0"/>
              <a:t>:</a:t>
            </a:r>
            <a:br>
              <a:rPr lang="en-IN" sz="3600" dirty="0"/>
            </a:br>
            <a:r>
              <a:rPr lang="en-IN" sz="3600" dirty="0"/>
              <a:t>The system accepts inputs in the form of textual news content, URLs, image uploads (certificates or documents), or scanned barcodes/QR codes.</a:t>
            </a:r>
          </a:p>
          <a:p>
            <a:pPr marL="0" indent="0">
              <a:buNone/>
            </a:pPr>
            <a:r>
              <a:rPr lang="en-IN" sz="3600" b="1" dirty="0"/>
              <a:t>2</a:t>
            </a:r>
            <a:r>
              <a:rPr lang="en-IN" sz="3600" dirty="0"/>
              <a:t>. </a:t>
            </a:r>
            <a:r>
              <a:rPr lang="en-IN" sz="3600" b="1" dirty="0"/>
              <a:t>Fake News Detection using NLP &amp; ML</a:t>
            </a:r>
            <a:r>
              <a:rPr lang="en-IN" sz="3600" dirty="0"/>
              <a:t>:</a:t>
            </a:r>
          </a:p>
          <a:p>
            <a:pPr marL="0" lvl="0" indent="0">
              <a:buNone/>
            </a:pPr>
            <a:r>
              <a:rPr lang="en-IN" sz="3600" dirty="0"/>
              <a:t>The input text is processed using Natural Language Processing (NLP) techniques such as tokenization, stop-word removal, and stemming.</a:t>
            </a:r>
          </a:p>
          <a:p>
            <a:pPr marL="0" indent="0">
              <a:buNone/>
            </a:pPr>
            <a:r>
              <a:rPr lang="en-IN" sz="3600" b="1" dirty="0"/>
              <a:t>3. IP Address Tracking Module</a:t>
            </a:r>
            <a:r>
              <a:rPr lang="en-IN" sz="3600" dirty="0"/>
              <a:t>:</a:t>
            </a:r>
          </a:p>
          <a:p>
            <a:pPr marL="0" lvl="0" indent="0">
              <a:buNone/>
            </a:pPr>
            <a:r>
              <a:rPr lang="en-IN" sz="3600" dirty="0"/>
              <a:t>When a user submits content, their IP address is captured and logged.</a:t>
            </a:r>
          </a:p>
          <a:p>
            <a:pPr marL="0" indent="0">
              <a:buNone/>
            </a:pPr>
            <a:r>
              <a:rPr lang="en-IN" sz="3600" dirty="0"/>
              <a:t> </a:t>
            </a:r>
            <a:r>
              <a:rPr lang="en-IN" sz="3600" b="1" dirty="0"/>
              <a:t>4</a:t>
            </a:r>
            <a:r>
              <a:rPr lang="en-IN" sz="3600" dirty="0"/>
              <a:t>.</a:t>
            </a:r>
            <a:r>
              <a:rPr lang="en-IN" sz="3600" b="1" dirty="0"/>
              <a:t>Barcode/QR Code Verification Module</a:t>
            </a:r>
            <a:r>
              <a:rPr lang="en-IN" sz="3600" dirty="0"/>
              <a:t>:</a:t>
            </a:r>
          </a:p>
          <a:p>
            <a:pPr marL="0" lvl="0" indent="0">
              <a:buNone/>
            </a:pPr>
            <a:r>
              <a:rPr lang="en-IN" sz="3600" dirty="0"/>
              <a:t>If a barcode/QR code is scanned, the system reads the code using a barcode reader library </a:t>
            </a:r>
          </a:p>
          <a:p>
            <a:pPr marL="0" indent="0">
              <a:buNone/>
            </a:pPr>
            <a:r>
              <a:rPr lang="en-IN" sz="3600" b="1" dirty="0"/>
              <a:t>5.Certificate Detection using Google Lens/OCR:</a:t>
            </a:r>
            <a:endParaRPr lang="en-IN" sz="3600" dirty="0"/>
          </a:p>
          <a:p>
            <a:pPr marL="0" lvl="0" indent="0">
              <a:buNone/>
            </a:pPr>
            <a:r>
              <a:rPr lang="en-IN" sz="3600" dirty="0"/>
              <a:t>Uploaded certificates or scanned documents are processed through OCR tools (e.g., Tesseract OCR or Google Vision API).</a:t>
            </a:r>
          </a:p>
          <a:p>
            <a:pPr marL="0" indent="0">
              <a:buNone/>
            </a:pPr>
            <a:r>
              <a:rPr lang="en-IN" sz="3600" b="1" dirty="0"/>
              <a:t>5.Result Generation and Reporting</a:t>
            </a:r>
            <a:r>
              <a:rPr lang="en-IN" sz="3600" dirty="0"/>
              <a:t>:</a:t>
            </a:r>
          </a:p>
          <a:p>
            <a:pPr marL="0" lvl="0" indent="0">
              <a:buNone/>
            </a:pPr>
            <a:r>
              <a:rPr lang="en-IN" sz="3600" dirty="0"/>
              <a:t>The system compiles the analysis into a report containing:</a:t>
            </a:r>
          </a:p>
          <a:p>
            <a:pPr lvl="1"/>
            <a:r>
              <a:rPr lang="en-IN" sz="3200" dirty="0"/>
              <a:t>Fake news detection result</a:t>
            </a:r>
          </a:p>
          <a:p>
            <a:pPr lvl="1"/>
            <a:r>
              <a:rPr lang="en-IN" sz="3200" dirty="0"/>
              <a:t>IP address and source location</a:t>
            </a:r>
          </a:p>
          <a:p>
            <a:pPr lvl="1"/>
            <a:r>
              <a:rPr lang="en-IN" sz="3200" dirty="0"/>
              <a:t>Barcode verification status</a:t>
            </a:r>
          </a:p>
          <a:p>
            <a:pPr lvl="1"/>
            <a:r>
              <a:rPr lang="en-IN" sz="3200" dirty="0"/>
              <a:t>Certificate validation result</a:t>
            </a:r>
          </a:p>
          <a:p>
            <a:pPr marL="0" indent="0">
              <a:buNone/>
            </a:pP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t>
            </a:r>
            <a:r>
              <a:rPr lang="en-IN" b="1" dirty="0" smtClean="0"/>
              <a:t>Tools </a:t>
            </a:r>
            <a:r>
              <a:rPr lang="en-IN" b="1" dirty="0"/>
              <a:t>&amp; Technologies</a:t>
            </a:r>
            <a:r>
              <a:rPr lang="en-IN" dirty="0"/>
              <a:t/>
            </a:r>
            <a:br>
              <a:rPr lang="en-IN" dirty="0"/>
            </a:br>
            <a:endParaRPr lang="en-IN" dirty="0"/>
          </a:p>
        </p:txBody>
      </p:sp>
      <p:sp>
        <p:nvSpPr>
          <p:cNvPr id="3" name="Content Placeholder 2"/>
          <p:cNvSpPr>
            <a:spLocks noGrp="1"/>
          </p:cNvSpPr>
          <p:nvPr>
            <p:ph idx="1"/>
          </p:nvPr>
        </p:nvSpPr>
        <p:spPr>
          <a:xfrm>
            <a:off x="1753706" y="2277419"/>
            <a:ext cx="10316002" cy="4656928"/>
          </a:xfrm>
        </p:spPr>
        <p:txBody>
          <a:bodyPr>
            <a:normAutofit fontScale="85000" lnSpcReduction="20000"/>
          </a:bodyPr>
          <a:lstStyle/>
          <a:p>
            <a:pPr lvl="0"/>
            <a:r>
              <a:rPr lang="en-IN" dirty="0"/>
              <a:t>NLP &amp; ML Libraries: NLTK, </a:t>
            </a:r>
            <a:r>
              <a:rPr lang="en-IN" dirty="0" err="1"/>
              <a:t>SpaCy</a:t>
            </a:r>
            <a:r>
              <a:rPr lang="en-IN" dirty="0"/>
              <a:t>, Scikit-learn, TensorFlow, </a:t>
            </a:r>
            <a:r>
              <a:rPr lang="en-IN" dirty="0" err="1"/>
              <a:t>PyTorch</a:t>
            </a:r>
            <a:endParaRPr lang="en-IN" b="1" dirty="0"/>
          </a:p>
          <a:p>
            <a:pPr lvl="0"/>
            <a:r>
              <a:rPr lang="en-IN" dirty="0"/>
              <a:t>Deep Learning Models: BERT, </a:t>
            </a:r>
            <a:r>
              <a:rPr lang="en-IN" dirty="0" err="1"/>
              <a:t>RoBERTa</a:t>
            </a:r>
            <a:r>
              <a:rPr lang="en-IN" dirty="0"/>
              <a:t> for text classification</a:t>
            </a:r>
            <a:endParaRPr lang="en-IN" b="1" dirty="0"/>
          </a:p>
          <a:p>
            <a:pPr lvl="0"/>
            <a:r>
              <a:rPr lang="en-IN" dirty="0"/>
              <a:t>OCR &amp; Image Recognition: Tesseract OCR, Google Lens API</a:t>
            </a:r>
            <a:endParaRPr lang="en-IN" b="1" dirty="0"/>
          </a:p>
          <a:p>
            <a:pPr lvl="0"/>
            <a:r>
              <a:rPr lang="en-IN" dirty="0"/>
              <a:t>Barcode &amp; QR Detection: </a:t>
            </a:r>
            <a:r>
              <a:rPr lang="en-IN" dirty="0" err="1"/>
              <a:t>Pyzbar</a:t>
            </a:r>
            <a:r>
              <a:rPr lang="en-IN" dirty="0"/>
              <a:t>, OpenCV, </a:t>
            </a:r>
            <a:r>
              <a:rPr lang="en-IN" dirty="0" err="1"/>
              <a:t>ZBar</a:t>
            </a:r>
            <a:r>
              <a:rPr lang="en-IN" dirty="0"/>
              <a:t> library</a:t>
            </a:r>
            <a:endParaRPr lang="en-IN" b="1" dirty="0"/>
          </a:p>
          <a:p>
            <a:pPr lvl="0"/>
            <a:r>
              <a:rPr lang="en-IN" dirty="0"/>
              <a:t>IP Tracking: Python socket, </a:t>
            </a:r>
            <a:r>
              <a:rPr lang="en-IN" dirty="0" err="1"/>
              <a:t>ipwhois</a:t>
            </a:r>
            <a:r>
              <a:rPr lang="en-IN" dirty="0"/>
              <a:t>, and geolocation APIs</a:t>
            </a:r>
            <a:endParaRPr lang="en-IN" b="1" dirty="0"/>
          </a:p>
          <a:p>
            <a:pPr lvl="0"/>
            <a:r>
              <a:rPr lang="en-IN" dirty="0"/>
              <a:t>Web Scraping &amp; Data Extraction: </a:t>
            </a:r>
            <a:r>
              <a:rPr lang="en-IN" dirty="0" err="1"/>
              <a:t>BeautifulSoup</a:t>
            </a:r>
            <a:r>
              <a:rPr lang="en-IN" dirty="0"/>
              <a:t>, Scrapy</a:t>
            </a:r>
            <a:endParaRPr lang="en-IN" b="1" dirty="0"/>
          </a:p>
          <a:p>
            <a:pPr lvl="0"/>
            <a:r>
              <a:rPr lang="en-IN" dirty="0"/>
              <a:t>Database: MySQL or MongoDB for logs and reports</a:t>
            </a:r>
            <a:endParaRPr lang="en-IN" b="1" dirty="0"/>
          </a:p>
          <a:p>
            <a:pPr lvl="0"/>
            <a:r>
              <a:rPr lang="en-IN" dirty="0"/>
              <a:t>Backend Framework: Flask or Django</a:t>
            </a:r>
            <a:endParaRPr lang="en-IN" b="1" dirty="0"/>
          </a:p>
          <a:p>
            <a:pPr lvl="0"/>
            <a:r>
              <a:rPr lang="en-IN" dirty="0"/>
              <a:t>Frontend Tools: React.js / HTML / CSS</a:t>
            </a:r>
            <a:endParaRPr lang="en-IN" b="1" dirty="0"/>
          </a:p>
          <a:p>
            <a:pPr lvl="0"/>
            <a:r>
              <a:rPr lang="en-IN" dirty="0"/>
              <a:t>Visualization: Matplotlib, </a:t>
            </a:r>
            <a:r>
              <a:rPr lang="en-IN" dirty="0" err="1"/>
              <a:t>Plotly</a:t>
            </a:r>
            <a:r>
              <a:rPr lang="en-IN" dirty="0"/>
              <a:t> for results reporting</a:t>
            </a:r>
            <a:endParaRPr lang="en-IN" b="1" dirty="0"/>
          </a:p>
          <a:p>
            <a:pPr lvl="0"/>
            <a:r>
              <a:rPr lang="en-IN" dirty="0"/>
              <a:t>Deployment Tools: Docker, AWS / Google Cloud for hosting</a:t>
            </a:r>
            <a:endParaRPr lang="en-IN" b="1" dirty="0"/>
          </a:p>
          <a:p>
            <a:pPr lvl="0"/>
            <a:r>
              <a:rPr lang="en-IN" dirty="0"/>
              <a:t>Security: JWT for authentication, SSL for secure connections</a:t>
            </a:r>
            <a:endParaRPr lang="en-IN" b="1" dirty="0"/>
          </a:p>
          <a:p>
            <a:pPr marL="0" indent="0">
              <a:buNone/>
            </a:pP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Block Diagram</a:t>
            </a:r>
            <a:endParaRPr lang="en-IN" b="1" dirty="0"/>
          </a:p>
        </p:txBody>
      </p:sp>
      <p:pic>
        <p:nvPicPr>
          <p:cNvPr id="4" name="Content Placeholder 3"/>
          <p:cNvPicPr>
            <a:picLocks noGrp="1" noChangeAspect="1"/>
          </p:cNvPicPr>
          <p:nvPr>
            <p:ph idx="1"/>
          </p:nvPr>
        </p:nvPicPr>
        <p:blipFill>
          <a:blip r:embed="rId2"/>
          <a:stretch>
            <a:fillRect/>
          </a:stretch>
        </p:blipFill>
        <p:spPr>
          <a:xfrm>
            <a:off x="4418012" y="2592388"/>
            <a:ext cx="3105150" cy="4657725"/>
          </a:xfrm>
          <a:prstGeom prst="rect">
            <a:avLst/>
          </a:prstGeom>
        </p:spPr>
      </p:pic>
      <p:sp>
        <p:nvSpPr>
          <p:cNvPr id="3" name="Oval 2"/>
          <p:cNvSpPr/>
          <p:nvPr/>
        </p:nvSpPr>
        <p:spPr>
          <a:xfrm>
            <a:off x="5327374" y="7250113"/>
            <a:ext cx="1205948" cy="50240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r>
              <a:rPr lang="en-US" dirty="0" smtClean="0">
                <a:solidFill>
                  <a:schemeClr val="tx1"/>
                </a:solidFill>
              </a:rPr>
              <a:t>nd</a:t>
            </a:r>
            <a:endParaRPr lang="en-IN"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Future Scope</a:t>
            </a:r>
            <a:endParaRPr lang="en-IN" b="1" dirty="0"/>
          </a:p>
        </p:txBody>
      </p:sp>
      <p:sp>
        <p:nvSpPr>
          <p:cNvPr id="3" name="Content Placeholder 2"/>
          <p:cNvSpPr>
            <a:spLocks noGrp="1"/>
          </p:cNvSpPr>
          <p:nvPr>
            <p:ph idx="1"/>
          </p:nvPr>
        </p:nvSpPr>
        <p:spPr/>
        <p:txBody>
          <a:bodyPr>
            <a:normAutofit lnSpcReduction="10000"/>
          </a:bodyPr>
          <a:lstStyle/>
          <a:p>
            <a:pPr lvl="0"/>
            <a:r>
              <a:rPr lang="en-IN" sz="2400" b="1" dirty="0"/>
              <a:t>Integration with Social Media APIs:</a:t>
            </a:r>
            <a:r>
              <a:rPr lang="en-IN" sz="2400" dirty="0"/>
              <a:t> Direct real-time monitoring of Facebook, X (Twitter), Instagram, and WhatsApp for fake news detection.</a:t>
            </a:r>
          </a:p>
          <a:p>
            <a:pPr lvl="0"/>
            <a:r>
              <a:rPr lang="en-IN" sz="2400" b="1" dirty="0"/>
              <a:t>AI-Powered Deepfake Detection:</a:t>
            </a:r>
            <a:r>
              <a:rPr lang="en-IN" sz="2400" dirty="0"/>
              <a:t> Ability to detect manipulated images, videos, and deepfake audio to prevent advanced misinformation.</a:t>
            </a:r>
          </a:p>
          <a:p>
            <a:pPr lvl="0"/>
            <a:r>
              <a:rPr lang="en-IN" sz="2400" b="1" dirty="0"/>
              <a:t>Blockchain for News Verification:</a:t>
            </a:r>
            <a:r>
              <a:rPr lang="en-IN" sz="2400" dirty="0"/>
              <a:t> Using blockchain to create immutable verification records for news and certificates.</a:t>
            </a:r>
          </a:p>
          <a:p>
            <a:pPr lvl="0"/>
            <a:r>
              <a:rPr lang="en-IN" sz="2400" b="1" dirty="0"/>
              <a:t>Advanced Geo-Tracking:</a:t>
            </a:r>
            <a:r>
              <a:rPr lang="en-IN" sz="2400" dirty="0"/>
              <a:t> Incorporating geolocation tracking for pinpointing the origin of misinformation.</a:t>
            </a:r>
          </a:p>
          <a:p>
            <a:pPr lvl="0"/>
            <a:r>
              <a:rPr lang="en-IN" sz="2400" b="1" dirty="0"/>
              <a:t>Collaboration with News Agencies:</a:t>
            </a:r>
            <a:r>
              <a:rPr lang="en-IN" sz="2400" dirty="0"/>
              <a:t> Partnering with media houses to verify news before publication.</a:t>
            </a:r>
          </a:p>
          <a:p>
            <a:pPr marL="0" indent="0">
              <a:buNone/>
            </a:pP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a:t>
            </a:r>
            <a:r>
              <a:rPr lang="en-US" b="1" dirty="0" smtClean="0"/>
              <a:t>Limitations</a:t>
            </a:r>
            <a:endParaRPr lang="en-IN" b="1" dirty="0"/>
          </a:p>
        </p:txBody>
      </p:sp>
      <p:sp>
        <p:nvSpPr>
          <p:cNvPr id="6" name="Content Placeholder 5"/>
          <p:cNvSpPr>
            <a:spLocks noGrp="1"/>
          </p:cNvSpPr>
          <p:nvPr>
            <p:ph idx="1"/>
          </p:nvPr>
        </p:nvSpPr>
        <p:spPr>
          <a:xfrm>
            <a:off x="1263375" y="1771073"/>
            <a:ext cx="10316002" cy="4656928"/>
          </a:xfrm>
        </p:spPr>
        <p:txBody>
          <a:bodyPr>
            <a:normAutofit fontScale="55000" lnSpcReduction="20000"/>
          </a:bodyPr>
          <a:lstStyle/>
          <a:p>
            <a:pPr lvl="0"/>
            <a:r>
              <a:rPr lang="en-IN" sz="3300" b="1" dirty="0"/>
              <a:t>IP Tracking Challenges:</a:t>
            </a:r>
            <a:endParaRPr lang="en-IN" sz="3300" dirty="0"/>
          </a:p>
          <a:p>
            <a:pPr lvl="1"/>
            <a:r>
              <a:rPr lang="en-IN" sz="3300" dirty="0"/>
              <a:t>May fail with VPNs, proxies, or dynamic IPs.</a:t>
            </a:r>
          </a:p>
          <a:p>
            <a:pPr lvl="0"/>
            <a:r>
              <a:rPr lang="en-IN" sz="3300" b="1" dirty="0"/>
              <a:t>Data Privacy Concerns:</a:t>
            </a:r>
            <a:endParaRPr lang="en-IN" sz="3300" dirty="0"/>
          </a:p>
          <a:p>
            <a:pPr lvl="1"/>
            <a:r>
              <a:rPr lang="en-IN" sz="3300" dirty="0"/>
              <a:t>Tracking IPs can raise legal and ethical issues.</a:t>
            </a:r>
          </a:p>
          <a:p>
            <a:pPr lvl="0"/>
            <a:r>
              <a:rPr lang="en-IN" sz="3300" b="1" dirty="0"/>
              <a:t>Google Lens Dependency:</a:t>
            </a:r>
            <a:endParaRPr lang="en-IN" sz="3300" dirty="0"/>
          </a:p>
          <a:p>
            <a:pPr lvl="1"/>
            <a:r>
              <a:rPr lang="en-IN" sz="3300" dirty="0"/>
              <a:t>Requires internet access and may not verify low-quality or manipulated images.</a:t>
            </a:r>
          </a:p>
          <a:p>
            <a:pPr lvl="0"/>
            <a:r>
              <a:rPr lang="en-IN" sz="3300" b="1" dirty="0"/>
              <a:t>Machine Learning Limitations:</a:t>
            </a:r>
            <a:endParaRPr lang="en-IN" sz="3300" dirty="0"/>
          </a:p>
          <a:p>
            <a:pPr lvl="1"/>
            <a:r>
              <a:rPr lang="en-IN" sz="3300" dirty="0"/>
              <a:t>May produce false positives/negatives if the training dataset is insufficient.</a:t>
            </a:r>
          </a:p>
          <a:p>
            <a:pPr lvl="0"/>
            <a:r>
              <a:rPr lang="en-IN" sz="3300" b="1" dirty="0"/>
              <a:t>Scalability Issues:</a:t>
            </a:r>
            <a:endParaRPr lang="en-IN" sz="3300" dirty="0"/>
          </a:p>
          <a:p>
            <a:pPr lvl="1"/>
            <a:r>
              <a:rPr lang="en-IN" sz="3300" dirty="0"/>
              <a:t>Real-time detection for viral content requires high processing power.</a:t>
            </a:r>
          </a:p>
          <a:p>
            <a:pPr marL="0" indent="0">
              <a:buNone/>
            </a:pPr>
            <a:r>
              <a:rPr lang="en-IN" sz="3300" dirty="0"/>
              <a:t> </a:t>
            </a:r>
          </a:p>
          <a:p>
            <a:pPr marL="0" indent="0">
              <a:buNone/>
            </a:pPr>
            <a:r>
              <a:rPr lang="en-IN" sz="3300" b="1" dirty="0"/>
              <a:t> </a:t>
            </a:r>
          </a:p>
          <a:p>
            <a:pPr marL="0" indent="0">
              <a:buNone/>
            </a:pP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Conclusion</a:t>
            </a:r>
            <a:endParaRPr lang="en-IN" b="1" dirty="0"/>
          </a:p>
        </p:txBody>
      </p:sp>
      <p:sp>
        <p:nvSpPr>
          <p:cNvPr id="3" name="Content Placeholder 2"/>
          <p:cNvSpPr>
            <a:spLocks noGrp="1"/>
          </p:cNvSpPr>
          <p:nvPr>
            <p:ph idx="1"/>
          </p:nvPr>
        </p:nvSpPr>
        <p:spPr>
          <a:xfrm>
            <a:off x="1249874" y="1047508"/>
            <a:ext cx="12618720" cy="5221606"/>
          </a:xfrm>
        </p:spPr>
        <p:txBody>
          <a:bodyPr>
            <a:normAutofit/>
          </a:bodyPr>
          <a:lstStyle/>
          <a:p>
            <a:pPr marL="0" indent="0">
              <a:buNone/>
            </a:pPr>
            <a:endParaRPr lang="en-IN" dirty="0"/>
          </a:p>
          <a:p>
            <a:pPr marL="0" indent="0">
              <a:buNone/>
            </a:pPr>
            <a:r>
              <a:rPr lang="en-IN" sz="2400" dirty="0"/>
              <a:t>The Fake News Detection Analysis System provides a robust and automated solution to identify and verify fake news and its sources. By integrating NLP-based text analysis, IP tracking, barcode verification, and certificate detection through Google Lens, it ensures that misinformation can be detected, traced, and mitigated efficiently.</a:t>
            </a:r>
          </a:p>
          <a:p>
            <a:pPr marL="0" indent="0">
              <a:buNone/>
            </a:pPr>
            <a:r>
              <a:rPr lang="en-IN" sz="2400" dirty="0"/>
              <a:t>This system not only enhances digital trust and cybersecurity but also supports law enforcement and media monitoring agencies in holding fake news spreaders accountable. By leveraging AI, image recognition, and data analytics, the solution serves as a powerful step towards creating a safer and more reliable digital ecosystem.</a:t>
            </a:r>
          </a:p>
          <a:p>
            <a:pPr marL="0" indent="0">
              <a:buNone/>
            </a:pP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r>
              <a:rPr lang="en-US" sz="6000" dirty="0"/>
              <a:t>THANK YOU!</a:t>
            </a:r>
            <a:endParaRPr lang="en-IN" sz="6000"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23</TotalTime>
  <Words>833</Words>
  <Application>Microsoft Office PowerPoint</Application>
  <PresentationFormat>Custom</PresentationFormat>
  <Paragraphs>85</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Inter Bold</vt:lpstr>
      <vt:lpstr>Times New Roman</vt:lpstr>
      <vt:lpstr>Trebuchet MS</vt:lpstr>
      <vt:lpstr>Wingdings 3</vt:lpstr>
      <vt:lpstr>Facet</vt:lpstr>
      <vt:lpstr> DEPARTMENT OF COMPUTER ENGINEERING      G.V. ACHARYA INSTITUTE OF ENGINEERING AND TECHNOLOGY  UNIVERSITY OF MUMBAI         A.Y. 2025– 2026</vt:lpstr>
      <vt:lpstr>  INTRODUCTION</vt:lpstr>
      <vt:lpstr>     Objective  </vt:lpstr>
      <vt:lpstr>      problem statement </vt:lpstr>
      <vt:lpstr>  Methodology:  </vt:lpstr>
      <vt:lpstr>      Tools &amp; Technologies </vt:lpstr>
      <vt:lpstr>                             Block Diagram</vt:lpstr>
      <vt:lpstr>                              Future Scope</vt:lpstr>
      <vt:lpstr> Limitations</vt:lpstr>
      <vt:lpstr>                               Conclusion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COMPUTER ENGINEERING      G.V. ACHARYA INSTITUTE OF ENGINEERING AND TECHNOLOGY  UNIVERSITY OF MUMBAI         A.Y. 2025– 2026</dc:title>
  <dc:creator>User</dc:creator>
  <cp:lastModifiedBy>User</cp:lastModifiedBy>
  <cp:revision>6</cp:revision>
  <dcterms:created xsi:type="dcterms:W3CDTF">2025-08-04T15:30:00Z</dcterms:created>
  <dcterms:modified xsi:type="dcterms:W3CDTF">2025-09-23T16:34:47Z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EB13C2AF7D9E4AB9B6ECAB2F1A5A31B2_12</vt:lpwstr>
  </property>
  <property fmtid="{D5CDD505-2E9C-101B-9397-08002B2CF9AE}" pid="3" name="KSOProductBuildVer">
    <vt:lpwstr>1033-12.2.0.21931</vt:lpwstr>
  </property>
</Properties>
</file>